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62" r:id="rId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1" autoAdjust="0"/>
    <p:restoredTop sz="94653" autoAdjust="0"/>
  </p:normalViewPr>
  <p:slideViewPr>
    <p:cSldViewPr snapToGrid="0">
      <p:cViewPr varScale="1">
        <p:scale>
          <a:sx n="86" d="100"/>
          <a:sy n="86" d="100"/>
        </p:scale>
        <p:origin x="135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22AD980-B57B-45F0-9B40-10DA8ED44BAC}" type="datetimeFigureOut">
              <a:rPr lang="en-US" smtClean="0"/>
              <a:pPr/>
              <a:t>8/30/2022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D5A5755-BB3A-4B29-B1A1-0312CBAF6C5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298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75" y="1057275"/>
            <a:ext cx="8616950" cy="54419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633526main_PIA15415_full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pitchFamily="-80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pitchFamily="-80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pitchFamily="-80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pitchFamily="-80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pitchFamily="-80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pitchFamily="-80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pitchFamily="-80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pitchFamily="-8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81A1A"/>
        </a:buClr>
        <a:buFont typeface="Symbol" charset="2"/>
        <a:buChar char="¨"/>
        <a:defRPr sz="2000" b="1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297A"/>
        </a:buClr>
        <a:buFont typeface="Symbol" charset="2"/>
        <a:buChar char="·"/>
        <a:defRPr sz="1200" b="0" i="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6"/>
          <p:cNvSpPr>
            <a:spLocks noChangeArrowheads="1"/>
          </p:cNvSpPr>
          <p:nvPr/>
        </p:nvSpPr>
        <p:spPr bwMode="auto">
          <a:xfrm>
            <a:off x="4597410" y="985765"/>
            <a:ext cx="4473980" cy="167640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cap="small" dirty="0"/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284132" y="237067"/>
            <a:ext cx="4267200" cy="677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 anchorCtr="0"/>
          <a:lstStyle/>
          <a:p>
            <a:pPr algn="ctr">
              <a:spcBef>
                <a:spcPct val="50000"/>
              </a:spcBef>
            </a:pPr>
            <a:r>
              <a:rPr lang="en-US" sz="1200" b="1" cap="all" dirty="0">
                <a:latin typeface="Arial"/>
                <a:cs typeface="Arial"/>
              </a:rPr>
              <a:t>NASA Space Technology Graduate research opportunity</a:t>
            </a:r>
          </a:p>
          <a:p>
            <a:pPr algn="ctr"/>
            <a:r>
              <a:rPr lang="en-US" sz="1200" b="1" dirty="0">
                <a:cs typeface="Arial"/>
              </a:rPr>
              <a:t>Grant 80NSSCxxxxxxx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287061"/>
              </p:ext>
            </p:extLst>
          </p:nvPr>
        </p:nvGraphicFramePr>
        <p:xfrm>
          <a:off x="4597404" y="985763"/>
          <a:ext cx="4473986" cy="16196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9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304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accent2"/>
                          </a:solidFill>
                          <a:latin typeface="+mn-lt"/>
                        </a:rPr>
                        <a:t>TITLE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endParaRPr lang="en-US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T="9144" marB="914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000" b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marT="9144" marB="9144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741">
                <a:tc gridSpan="2"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accent2"/>
                          </a:solidFill>
                          <a:latin typeface="+mn-lt"/>
                        </a:rPr>
                        <a:t>GRADUATE</a:t>
                      </a:r>
                      <a:r>
                        <a:rPr lang="en-US" sz="800" b="1" baseline="0" dirty="0">
                          <a:solidFill>
                            <a:schemeClr val="accent2"/>
                          </a:solidFill>
                          <a:latin typeface="+mn-lt"/>
                        </a:rPr>
                        <a:t> RESEARCHER</a:t>
                      </a:r>
                      <a:endParaRPr lang="en-US" sz="800" b="1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marT="9144" marB="9144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T="9144" marB="9144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96">
                <a:tc gridSpan="2"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accent2"/>
                          </a:solidFill>
                          <a:latin typeface="+mn-lt"/>
                        </a:rPr>
                        <a:t>FACULTY ADVISOR</a:t>
                      </a:r>
                      <a:r>
                        <a:rPr lang="en-US" sz="800" b="1" baseline="0" dirty="0">
                          <a:solidFill>
                            <a:schemeClr val="accent2"/>
                          </a:solidFill>
                          <a:latin typeface="+mn-lt"/>
                        </a:rPr>
                        <a:t> / PRINCIPAL INVESTIGATOR</a:t>
                      </a:r>
                      <a:endParaRPr lang="en-US" sz="800" b="1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marT="9144" marB="9144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T="9144" marB="9144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725">
                <a:tc gridSpan="2"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accent2"/>
                          </a:solidFill>
                          <a:latin typeface="+mn-lt"/>
                        </a:rPr>
                        <a:t>UNIVERSITY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T="9144" marB="9144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904">
                <a:tc gridSpan="2"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accent2"/>
                          </a:solidFill>
                          <a:latin typeface="+mn-lt"/>
                        </a:rPr>
                        <a:t>DEGREE PROGRAM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T="9144" marB="9144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016">
                <a:tc gridSpan="2">
                  <a:txBody>
                    <a:bodyPr/>
                    <a:lstStyle/>
                    <a:p>
                      <a:r>
                        <a:rPr lang="en-US" sz="800" b="1">
                          <a:solidFill>
                            <a:schemeClr val="accent2"/>
                          </a:solidFill>
                          <a:latin typeface="+mn-lt"/>
                        </a:rPr>
                        <a:t>NSTGRO </a:t>
                      </a:r>
                      <a:r>
                        <a:rPr lang="en-US" sz="800" b="1" dirty="0">
                          <a:solidFill>
                            <a:schemeClr val="accent2"/>
                          </a:solidFill>
                          <a:latin typeface="+mn-lt"/>
                        </a:rPr>
                        <a:t>YEAR </a:t>
                      </a:r>
                      <a:r>
                        <a:rPr lang="en-US" sz="800" b="1" baseline="0" dirty="0">
                          <a:solidFill>
                            <a:schemeClr val="accent2"/>
                          </a:solidFill>
                          <a:latin typeface="+mn-lt"/>
                        </a:rPr>
                        <a:t> (e.g., 1 of 4)</a:t>
                      </a:r>
                      <a:endParaRPr lang="en-US" sz="800" b="1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marT="9144" marB="9144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T="9144" marB="9144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824">
                <a:tc gridSpan="2"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accent2"/>
                          </a:solidFill>
                          <a:latin typeface="+mn-lt"/>
                        </a:rPr>
                        <a:t>NASA RESEARCH</a:t>
                      </a:r>
                      <a:r>
                        <a:rPr lang="en-US" sz="800" b="1" baseline="0" dirty="0">
                          <a:solidFill>
                            <a:schemeClr val="accent2"/>
                          </a:solidFill>
                          <a:latin typeface="+mn-lt"/>
                        </a:rPr>
                        <a:t> COLLABORATOR</a:t>
                      </a:r>
                    </a:p>
                    <a:p>
                      <a:r>
                        <a:rPr lang="en-US" sz="800" b="1" baseline="0" dirty="0">
                          <a:solidFill>
                            <a:schemeClr val="accent2"/>
                          </a:solidFill>
                          <a:latin typeface="+mn-lt"/>
                        </a:rPr>
                        <a:t>(include NASA Center or Affiliation)</a:t>
                      </a:r>
                      <a:endParaRPr lang="en-US" sz="800" b="1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marT="9144" marB="9144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T="9144" marB="9144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4597410" y="2742929"/>
            <a:ext cx="4473980" cy="4047338"/>
            <a:chOff x="4597410" y="2742929"/>
            <a:chExt cx="4473980" cy="4047338"/>
          </a:xfrm>
        </p:grpSpPr>
        <p:sp>
          <p:nvSpPr>
            <p:cNvPr id="42" name="Rectangle 29"/>
            <p:cNvSpPr>
              <a:spLocks noChangeArrowheads="1"/>
            </p:cNvSpPr>
            <p:nvPr/>
          </p:nvSpPr>
          <p:spPr bwMode="auto">
            <a:xfrm>
              <a:off x="4597410" y="2743083"/>
              <a:ext cx="4473980" cy="4047184"/>
            </a:xfrm>
            <a:prstGeom prst="rect">
              <a:avLst/>
            </a:prstGeom>
            <a:noFill/>
            <a:ln>
              <a:solidFill>
                <a:schemeClr val="accent2">
                  <a:lumMod val="60000"/>
                  <a:lumOff val="40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buFont typeface="Arial" pitchFamily="34" charset="0"/>
                <a:buChar char="•"/>
              </a:pPr>
              <a:endParaRPr lang="en-US" sz="1000" dirty="0"/>
            </a:p>
          </p:txBody>
        </p:sp>
        <p:sp>
          <p:nvSpPr>
            <p:cNvPr id="43" name="Rectangle 30"/>
            <p:cNvSpPr>
              <a:spLocks noChangeArrowheads="1"/>
            </p:cNvSpPr>
            <p:nvPr/>
          </p:nvSpPr>
          <p:spPr bwMode="auto">
            <a:xfrm>
              <a:off x="4605871" y="2742929"/>
              <a:ext cx="4465519" cy="69890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80962" tIns="41275" rIns="80962" bIns="41275">
              <a:spAutoFit/>
            </a:bodyPr>
            <a:lstStyle/>
            <a:p>
              <a:pPr defTabSz="804863"/>
              <a:r>
                <a:rPr lang="en-US" sz="1000" b="1" cap="all" dirty="0">
                  <a:solidFill>
                    <a:schemeClr val="accent2"/>
                  </a:solidFill>
                  <a:cs typeface="Arial"/>
                </a:rPr>
                <a:t>MAJOR ACCOMPLISHMENTS (TO-DATE)</a:t>
              </a:r>
            </a:p>
            <a:p>
              <a:pPr marL="228600" indent="-109538" defTabSz="804863">
                <a:buClr>
                  <a:schemeClr val="accent2"/>
                </a:buClr>
                <a:buFont typeface="Symbol" pitchFamily="18" charset="2"/>
                <a:buChar char="·"/>
              </a:pPr>
              <a:r>
                <a:rPr lang="en-US" sz="1000" dirty="0"/>
                <a:t> </a:t>
              </a:r>
            </a:p>
            <a:p>
              <a:pPr marL="228600" indent="-109538" defTabSz="804863">
                <a:buClr>
                  <a:schemeClr val="accent2"/>
                </a:buClr>
                <a:buFont typeface="Symbol" pitchFamily="18" charset="2"/>
                <a:buChar char="·"/>
              </a:pPr>
              <a:r>
                <a:rPr lang="en-US" sz="1000" dirty="0"/>
                <a:t> </a:t>
              </a:r>
            </a:p>
            <a:p>
              <a:pPr marL="228600" indent="-109538" defTabSz="804863">
                <a:buClr>
                  <a:schemeClr val="accent2"/>
                </a:buClr>
                <a:buFont typeface="Symbol" pitchFamily="18" charset="2"/>
                <a:buChar char="·"/>
              </a:pPr>
              <a:r>
                <a:rPr lang="en-US" sz="1000" dirty="0"/>
                <a:t> 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605877" y="4644956"/>
              <a:ext cx="4465513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000" cap="all" dirty="0">
                  <a:solidFill>
                    <a:schemeClr val="bg1">
                      <a:lumMod val="50000"/>
                    </a:schemeClr>
                  </a:solidFill>
                  <a:cs typeface="Arial"/>
                </a:rPr>
                <a:t>Add Graphics here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4150" y="978373"/>
            <a:ext cx="4469102" cy="5811894"/>
            <a:chOff x="64150" y="978373"/>
            <a:chExt cx="4469102" cy="5811894"/>
          </a:xfrm>
        </p:grpSpPr>
        <p:sp>
          <p:nvSpPr>
            <p:cNvPr id="32" name="Rectangle 30"/>
            <p:cNvSpPr>
              <a:spLocks noChangeArrowheads="1"/>
            </p:cNvSpPr>
            <p:nvPr/>
          </p:nvSpPr>
          <p:spPr bwMode="auto">
            <a:xfrm>
              <a:off x="67739" y="2514648"/>
              <a:ext cx="4461924" cy="69890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80962" tIns="41275" rIns="80962" bIns="41275">
              <a:spAutoFit/>
            </a:bodyPr>
            <a:lstStyle/>
            <a:p>
              <a:pPr defTabSz="804863"/>
              <a:r>
                <a:rPr lang="en-US" sz="1000" b="1" cap="all" dirty="0">
                  <a:solidFill>
                    <a:schemeClr val="accent2"/>
                  </a:solidFill>
                  <a:cs typeface="Arial"/>
                </a:rPr>
                <a:t>TECHNICAL APPROACH</a:t>
              </a:r>
            </a:p>
            <a:p>
              <a:pPr marL="228600" indent="-109538" defTabSz="804863">
                <a:buClr>
                  <a:schemeClr val="accent2"/>
                </a:buClr>
                <a:buFont typeface="Symbol" pitchFamily="18" charset="2"/>
                <a:buChar char="·"/>
              </a:pPr>
              <a:r>
                <a:rPr lang="en-US" sz="1000" dirty="0"/>
                <a:t> </a:t>
              </a:r>
            </a:p>
            <a:p>
              <a:pPr marL="228600" indent="-109538" defTabSz="804863">
                <a:buClr>
                  <a:schemeClr val="accent2"/>
                </a:buClr>
                <a:buFont typeface="Symbol" pitchFamily="18" charset="2"/>
                <a:buChar char="·"/>
              </a:pPr>
              <a:r>
                <a:rPr lang="en-US" sz="1000" dirty="0"/>
                <a:t> </a:t>
              </a:r>
            </a:p>
            <a:p>
              <a:pPr marL="228600" indent="-109538" defTabSz="804863">
                <a:buClr>
                  <a:schemeClr val="accent2"/>
                </a:buClr>
                <a:buFont typeface="Symbol" pitchFamily="18" charset="2"/>
                <a:buChar char="·"/>
              </a:pPr>
              <a:r>
                <a:rPr lang="en-US" sz="1000" dirty="0"/>
                <a:t> </a:t>
              </a:r>
            </a:p>
          </p:txBody>
        </p:sp>
        <p:sp>
          <p:nvSpPr>
            <p:cNvPr id="33" name="Rectangle 30"/>
            <p:cNvSpPr>
              <a:spLocks noChangeArrowheads="1"/>
            </p:cNvSpPr>
            <p:nvPr/>
          </p:nvSpPr>
          <p:spPr bwMode="auto">
            <a:xfrm>
              <a:off x="67739" y="5254320"/>
              <a:ext cx="4465507" cy="69890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80962" tIns="41275" rIns="80962" bIns="41275">
              <a:spAutoFit/>
            </a:bodyPr>
            <a:lstStyle/>
            <a:p>
              <a:pPr defTabSz="804863"/>
              <a:r>
                <a:rPr lang="en-US" sz="1000" b="1" cap="all" dirty="0">
                  <a:solidFill>
                    <a:schemeClr val="accent2"/>
                  </a:solidFill>
                  <a:cs typeface="Arial"/>
                </a:rPr>
                <a:t>RELEVANCE TO NASA</a:t>
              </a:r>
            </a:p>
            <a:p>
              <a:pPr marL="228600" indent="-109538" defTabSz="804863">
                <a:buClr>
                  <a:schemeClr val="accent2"/>
                </a:buClr>
                <a:buFont typeface="Symbol" pitchFamily="18" charset="2"/>
                <a:buChar char="·"/>
              </a:pPr>
              <a:r>
                <a:rPr lang="en-US" sz="1000" dirty="0"/>
                <a:t> </a:t>
              </a:r>
            </a:p>
            <a:p>
              <a:pPr marL="228600" indent="-109538" defTabSz="804863">
                <a:buClr>
                  <a:schemeClr val="accent2"/>
                </a:buClr>
                <a:buFont typeface="Symbol" pitchFamily="18" charset="2"/>
                <a:buChar char="·"/>
              </a:pPr>
              <a:r>
                <a:rPr lang="en-US" sz="1000" dirty="0"/>
                <a:t> </a:t>
              </a:r>
            </a:p>
            <a:p>
              <a:pPr marL="228600" indent="-109538" defTabSz="804863">
                <a:buClr>
                  <a:schemeClr val="accent2"/>
                </a:buClr>
                <a:buFont typeface="Symbol" pitchFamily="18" charset="2"/>
                <a:buChar char="·"/>
              </a:pPr>
              <a:r>
                <a:rPr lang="en-US" sz="1000" dirty="0"/>
                <a:t> </a:t>
              </a:r>
            </a:p>
          </p:txBody>
        </p:sp>
        <p:sp>
          <p:nvSpPr>
            <p:cNvPr id="49" name="Rectangle 30"/>
            <p:cNvSpPr>
              <a:spLocks noChangeArrowheads="1"/>
            </p:cNvSpPr>
            <p:nvPr/>
          </p:nvSpPr>
          <p:spPr bwMode="auto">
            <a:xfrm>
              <a:off x="67739" y="978373"/>
              <a:ext cx="4465513" cy="69890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80962" tIns="41275" rIns="80962" bIns="41275">
              <a:spAutoFit/>
            </a:bodyPr>
            <a:lstStyle/>
            <a:p>
              <a:pPr defTabSz="804863"/>
              <a:r>
                <a:rPr lang="en-US" sz="1000" b="1" cap="all" dirty="0">
                  <a:solidFill>
                    <a:schemeClr val="accent2"/>
                  </a:solidFill>
                  <a:cs typeface="Arial"/>
                </a:rPr>
                <a:t>Goal / Expected Outcomes</a:t>
              </a:r>
            </a:p>
            <a:p>
              <a:pPr marL="228600" indent="-109538" defTabSz="804863">
                <a:buClr>
                  <a:schemeClr val="accent2"/>
                </a:buClr>
                <a:buFont typeface="Symbol" pitchFamily="18" charset="2"/>
                <a:buChar char="·"/>
              </a:pPr>
              <a:r>
                <a:rPr lang="en-US" sz="1000" dirty="0"/>
                <a:t> </a:t>
              </a:r>
            </a:p>
            <a:p>
              <a:pPr marL="228600" indent="-109538" defTabSz="804863">
                <a:buClr>
                  <a:schemeClr val="accent2"/>
                </a:buClr>
                <a:buFont typeface="Symbol" pitchFamily="18" charset="2"/>
                <a:buChar char="·"/>
              </a:pPr>
              <a:r>
                <a:rPr lang="en-US" sz="1000" dirty="0"/>
                <a:t> </a:t>
              </a:r>
            </a:p>
            <a:p>
              <a:pPr marL="228600" indent="-109538" defTabSz="804863">
                <a:buClr>
                  <a:schemeClr val="accent2"/>
                </a:buClr>
                <a:buFont typeface="Symbol" pitchFamily="18" charset="2"/>
                <a:buChar char="·"/>
              </a:pPr>
              <a:r>
                <a:rPr lang="en-US" sz="1000" dirty="0"/>
                <a:t> </a:t>
              </a:r>
            </a:p>
          </p:txBody>
        </p:sp>
        <p:sp>
          <p:nvSpPr>
            <p:cNvPr id="51" name="Rectangle 29"/>
            <p:cNvSpPr>
              <a:spLocks noChangeArrowheads="1"/>
            </p:cNvSpPr>
            <p:nvPr/>
          </p:nvSpPr>
          <p:spPr bwMode="auto">
            <a:xfrm>
              <a:off x="67745" y="978527"/>
              <a:ext cx="4465507" cy="5811740"/>
            </a:xfrm>
            <a:prstGeom prst="rect">
              <a:avLst/>
            </a:prstGeom>
            <a:noFill/>
            <a:ln>
              <a:solidFill>
                <a:schemeClr val="accent2">
                  <a:lumMod val="60000"/>
                  <a:lumOff val="40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buFont typeface="Arial" pitchFamily="34" charset="0"/>
                <a:buChar char="•"/>
              </a:pPr>
              <a:endParaRPr lang="en-US" sz="10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4150" y="3762379"/>
              <a:ext cx="4465513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000" cap="all" dirty="0">
                  <a:solidFill>
                    <a:schemeClr val="bg1">
                      <a:lumMod val="50000"/>
                    </a:schemeClr>
                  </a:solidFill>
                  <a:cs typeface="Arial"/>
                </a:rPr>
                <a:t>Add Graphics here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1_ESAS">
  <a:themeElements>
    <a:clrScheme name="ESA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A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rgbClr val="942923"/>
          </a:buClr>
          <a:buSzTx/>
          <a:buFont typeface="Symbol" pitchFamily="18" charset="2"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8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rgbClr val="942923"/>
          </a:buClr>
          <a:buSzTx/>
          <a:buFont typeface="Symbol" pitchFamily="18" charset="2"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80" charset="-128"/>
          </a:defRPr>
        </a:defPPr>
      </a:lstStyle>
    </a:lnDef>
  </a:objectDefaults>
  <a:extraClrSchemeLst>
    <a:extraClrScheme>
      <a:clrScheme name="ESA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A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A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A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A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A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A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f9e2bb2-5ef3-4315-8d3d-bb34bcebc86d">
      <Terms xmlns="http://schemas.microsoft.com/office/infopath/2007/PartnerControls"/>
    </lcf76f155ced4ddcb4097134ff3c332f>
    <TaxCatchAll xmlns="d900e117-17a0-4b24-9e47-511ef1d02c4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5FEEE3723B9A4594A7A47978130258" ma:contentTypeVersion="9" ma:contentTypeDescription="Create a new document." ma:contentTypeScope="" ma:versionID="439ed2b6800458c922327f97bac000fe">
  <xsd:schema xmlns:xsd="http://www.w3.org/2001/XMLSchema" xmlns:xs="http://www.w3.org/2001/XMLSchema" xmlns:p="http://schemas.microsoft.com/office/2006/metadata/properties" xmlns:ns2="bf9e2bb2-5ef3-4315-8d3d-bb34bcebc86d" xmlns:ns3="d900e117-17a0-4b24-9e47-511ef1d02c43" targetNamespace="http://schemas.microsoft.com/office/2006/metadata/properties" ma:root="true" ma:fieldsID="5cf3f87f5a199d7e8f692f2a7710b152" ns2:_="" ns3:_="">
    <xsd:import namespace="bf9e2bb2-5ef3-4315-8d3d-bb34bcebc86d"/>
    <xsd:import namespace="d900e117-17a0-4b24-9e47-511ef1d02c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9e2bb2-5ef3-4315-8d3d-bb34bcebc8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0fb68aea-d2ee-4a6c-85e6-e4b5686e96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0e117-17a0-4b24-9e47-511ef1d02c43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a9e38fdf-8069-4666-b6c1-3e772edc8e35}" ma:internalName="TaxCatchAll" ma:showField="CatchAllData" ma:web="1c80272b-e6d4-4a4c-987e-58217cddda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FE3E5C8-EB61-4D4A-9249-0D51B3E9022A}">
  <ds:schemaRefs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terms/"/>
    <ds:schemaRef ds:uri="http://schemas.microsoft.com/office/2006/metadata/properties"/>
    <ds:schemaRef ds:uri="bf9e2bb2-5ef3-4315-8d3d-bb34bcebc86d"/>
    <ds:schemaRef ds:uri="http://purl.org/dc/elements/1.1/"/>
    <ds:schemaRef ds:uri="http://schemas.microsoft.com/office/infopath/2007/PartnerControls"/>
    <ds:schemaRef ds:uri="d900e117-17a0-4b24-9e47-511ef1d02c4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A68D8FB-42B5-4B37-A151-E6781129B9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E6403A-E01D-4640-B7A4-F0D1A0ACC8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9e2bb2-5ef3-4315-8d3d-bb34bcebc86d"/>
    <ds:schemaRef ds:uri="d900e117-17a0-4b24-9e47-511ef1d02c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3188</TotalTime>
  <Words>72</Words>
  <Application>Microsoft Office PowerPoint</Application>
  <PresentationFormat>On-screen Show (4:3)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Symbol</vt:lpstr>
      <vt:lpstr>1_ESAS</vt:lpstr>
      <vt:lpstr>PowerPoint Presentation</vt:lpstr>
    </vt:vector>
  </TitlesOfParts>
  <Company>ODIN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NASA USER</dc:creator>
  <cp:lastModifiedBy>Carrion, Elias (GRC-TI00)[MANUFACTURING TECHNICAL SOLUTIONS I]</cp:lastModifiedBy>
  <cp:revision>214</cp:revision>
  <cp:lastPrinted>2013-07-11T18:14:45Z</cp:lastPrinted>
  <dcterms:created xsi:type="dcterms:W3CDTF">2012-05-18T15:11:47Z</dcterms:created>
  <dcterms:modified xsi:type="dcterms:W3CDTF">2022-08-30T13:47:09Z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0x010100415FEEE3723B9A4594A7A47978130258</vt:lpwstr>
  </property>
</Properties>
</file>